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23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335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uide_visual_assets/01_cover_hero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02070B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636422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A1B2"/>
                </a:solidFill>
              </a:rPr>
              <a:t>Обучающая презентация для сотрудников · v1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7315200" y="63642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DEE8"/>
                </a:solidFill>
              </a:rPr>
              <a:t>30–45 минут · задачи → данные → действия → результат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37844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QHARISMA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Зачем эта презентация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22529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1B2"/>
                </a:solidFill>
              </a:rPr>
              <a:t>Портал должен снять хаос: где смотреть, что делать, кому отвечать и как закрывать задачи.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949440" y="685800"/>
            <a:ext cx="4754880" cy="5349240"/>
          </a:xfrm>
          <a:prstGeom prst="roundRect">
            <a:avLst>
              <a:gd name="adj" fmla="val 3462"/>
            </a:avLst>
          </a:prstGeom>
          <a:solidFill>
            <a:srgbClr val="0A1624"/>
          </a:solidFill>
          <a:ln w="12700">
            <a:solidFill>
              <a:srgbClr val="264254">
                <a:alpha val="75000"/>
              </a:srgbClr>
            </a:solidFill>
            <a:prstDash val="solid"/>
          </a:ln>
        </p:spPr>
      </p:sp>
      <p:pic>
        <p:nvPicPr>
          <p:cNvPr id="7" name="Image 0" descr="/mnt/data/ghostwriter_images/generated/a_sleek_dark_ui_marketing_cover_dashboard_illust_1.png"/>
          <p:cNvPicPr>
            <a:picLocks noChangeAspect="1"/>
          </p:cNvPicPr>
          <p:nvPr/>
        </p:nvPicPr>
        <p:blipFill>
          <a:blip r:embed="rId3"/>
          <a:srcRect l="18620" r="18620"/>
          <a:stretch/>
        </p:blipFill>
        <p:spPr>
          <a:xfrm>
            <a:off x="6995160" y="731520"/>
            <a:ext cx="4663440" cy="5257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0352" y="1828800"/>
            <a:ext cx="2697480" cy="1051560"/>
          </a:xfrm>
          <a:prstGeom prst="roundRect">
            <a:avLst>
              <a:gd name="adj" fmla="val 10435"/>
            </a:avLst>
          </a:prstGeom>
          <a:solidFill>
            <a:srgbClr val="0D1828">
              <a:alpha val="97000"/>
            </a:srgbClr>
          </a:solidFill>
          <a:ln w="12700">
            <a:solidFill>
              <a:srgbClr val="264254">
                <a:alpha val="85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0352" y="1828800"/>
            <a:ext cx="54864" cy="1051560"/>
          </a:xfrm>
          <a:prstGeom prst="rect">
            <a:avLst/>
          </a:prstGeom>
          <a:solidFill>
            <a:srgbClr val="EF3F4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993392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4F7FA"/>
                </a:solidFill>
              </a:rPr>
              <a:t>Было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520" y="2395728"/>
            <a:ext cx="231343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D7DEE8"/>
                </a:solidFill>
              </a:rPr>
              <a:t>Разрозненные чаты, файлы, ручные проверки, задачи без доказательств.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3456432" y="1828800"/>
            <a:ext cx="2697480" cy="1051560"/>
          </a:xfrm>
          <a:prstGeom prst="roundRect">
            <a:avLst>
              <a:gd name="adj" fmla="val 10435"/>
            </a:avLst>
          </a:prstGeom>
          <a:solidFill>
            <a:srgbClr val="0D1828">
              <a:alpha val="97000"/>
            </a:srgbClr>
          </a:solidFill>
          <a:ln w="12700">
            <a:solidFill>
              <a:srgbClr val="264254">
                <a:alpha val="85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56432" y="1828800"/>
            <a:ext cx="54864" cy="1051560"/>
          </a:xfrm>
          <a:prstGeom prst="rect">
            <a:avLst/>
          </a:prstGeom>
          <a:solidFill>
            <a:srgbClr val="10C9B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0" y="1993392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4F7FA"/>
                </a:solidFill>
              </a:rPr>
              <a:t>Стало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657600" y="2395728"/>
            <a:ext cx="231343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D7DEE8"/>
                </a:solidFill>
              </a:rPr>
              <a:t>Единый маршрут: дашборд → задача → действие → статус → результат.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530352" y="3200400"/>
            <a:ext cx="2697480" cy="1051560"/>
          </a:xfrm>
          <a:prstGeom prst="roundRect">
            <a:avLst>
              <a:gd name="adj" fmla="val 10435"/>
            </a:avLst>
          </a:prstGeom>
          <a:solidFill>
            <a:srgbClr val="0D1828">
              <a:alpha val="97000"/>
            </a:srgbClr>
          </a:solidFill>
          <a:ln w="12700">
            <a:solidFill>
              <a:srgbClr val="264254">
                <a:alpha val="85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30352" y="3200400"/>
            <a:ext cx="54864" cy="1051560"/>
          </a:xfrm>
          <a:prstGeom prst="rect">
            <a:avLst/>
          </a:prstGeom>
          <a:solidFill>
            <a:srgbClr val="F6A31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3364992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4F7FA"/>
                </a:solidFill>
              </a:rPr>
              <a:t>Главная идея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31520" y="3767328"/>
            <a:ext cx="231343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D7DEE8"/>
                </a:solidFill>
              </a:rPr>
              <a:t>Портал не «для отчёта», а для ежедневного управления работой.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3456432" y="3200400"/>
            <a:ext cx="2697480" cy="1051560"/>
          </a:xfrm>
          <a:prstGeom prst="roundRect">
            <a:avLst>
              <a:gd name="adj" fmla="val 10435"/>
            </a:avLst>
          </a:prstGeom>
          <a:solidFill>
            <a:srgbClr val="0D1828">
              <a:alpha val="97000"/>
            </a:srgbClr>
          </a:solidFill>
          <a:ln w="12700">
            <a:solidFill>
              <a:srgbClr val="264254">
                <a:alpha val="85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456432" y="3200400"/>
            <a:ext cx="54864" cy="1051560"/>
          </a:xfrm>
          <a:prstGeom prst="rect">
            <a:avLst/>
          </a:prstGeom>
          <a:solidFill>
            <a:srgbClr val="3D72F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0" y="3364992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4F7FA"/>
                </a:solidFill>
              </a:rPr>
              <a:t>Для сотрудника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3657600" y="3767328"/>
            <a:ext cx="231343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D7DEE8"/>
                </a:solidFill>
              </a:rPr>
              <a:t>Каждый день понятно: что горит, что делать, кто ждёт ответ.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530352" y="4690872"/>
            <a:ext cx="5623560" cy="804672"/>
          </a:xfrm>
          <a:prstGeom prst="roundRect">
            <a:avLst>
              <a:gd name="adj" fmla="val 13636"/>
            </a:avLst>
          </a:prstGeom>
          <a:solidFill>
            <a:srgbClr val="0D1828">
              <a:alpha val="97000"/>
            </a:srgbClr>
          </a:solidFill>
          <a:ln w="12700">
            <a:solidFill>
              <a:srgbClr val="264254">
                <a:alpha val="85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30352" y="4690872"/>
            <a:ext cx="54864" cy="804672"/>
          </a:xfrm>
          <a:prstGeom prst="rect">
            <a:avLst/>
          </a:prstGeom>
          <a:solidFill>
            <a:srgbClr val="6B47E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1520" y="4855464"/>
            <a:ext cx="5239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4F7FA"/>
                </a:solidFill>
              </a:rPr>
              <a:t>Правило обучения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31520" y="5257800"/>
            <a:ext cx="523951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D7DEE8"/>
                </a:solidFill>
              </a:rPr>
              <a:t>Смотрим не все разделы сразу. Идём по рабочим сценариям: задачи, авто-задачи, загрузки, репрайсер, остатки, ИУ и новинки.</a:t>
            </a:r>
            <a:endParaRPr lang="en-US" sz="1020" dirty="0"/>
          </a:p>
        </p:txBody>
      </p:sp>
      <p:sp>
        <p:nvSpPr>
          <p:cNvPr id="28" name="Text 25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3A1B2"/>
                </a:solidFill>
              </a:rPr>
              <a:t>02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02920" y="6556248"/>
            <a:ext cx="9966960" cy="0"/>
          </a:xfrm>
          <a:prstGeom prst="line">
            <a:avLst/>
          </a:prstGeom>
          <a:noFill/>
          <a:ln w="8890">
            <a:solidFill>
              <a:srgbClr val="264254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uide_visual_assets/02_daily_route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3A1B2"/>
                </a:solidFill>
              </a:rPr>
              <a:t>03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502920" y="6556248"/>
            <a:ext cx="9966960" cy="0"/>
          </a:xfrm>
          <a:prstGeom prst="line">
            <a:avLst/>
          </a:prstGeom>
          <a:noFill/>
          <a:ln w="8890">
            <a:solidFill>
              <a:srgbClr val="264254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uide_visual_assets/03_portal_map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3A1B2"/>
                </a:solidFill>
              </a:rPr>
              <a:t>04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502920" y="6556248"/>
            <a:ext cx="9966960" cy="0"/>
          </a:xfrm>
          <a:prstGeom prst="line">
            <a:avLst/>
          </a:prstGeom>
          <a:noFill/>
          <a:ln w="8890">
            <a:solidFill>
              <a:srgbClr val="264254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118872"/>
            <a:ext cx="9765792" cy="6620256"/>
          </a:xfrm>
          <a:prstGeom prst="roundRect">
            <a:avLst>
              <a:gd name="adj" fmla="val 2762"/>
            </a:avLst>
          </a:prstGeom>
          <a:solidFill>
            <a:srgbClr val="0A1624"/>
          </a:solidFill>
          <a:ln w="12700">
            <a:solidFill>
              <a:srgbClr val="264254">
                <a:alpha val="88000"/>
              </a:srgbClr>
            </a:solidFill>
            <a:prstDash val="solid"/>
          </a:ln>
        </p:spPr>
      </p:sp>
      <p:pic>
        <p:nvPicPr>
          <p:cNvPr id="4" name="Image 0" descr="/mnt/data/ghostwriter_images/generated/a_dark_modern_ui_infographic_dashboard_scene_lik_2_batc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78" y="164592"/>
            <a:ext cx="9226981" cy="65288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40112" y="384048"/>
            <a:ext cx="1901952" cy="5943600"/>
          </a:xfrm>
          <a:prstGeom prst="roundRect">
            <a:avLst>
              <a:gd name="adj" fmla="val 8173"/>
            </a:avLst>
          </a:prstGeom>
          <a:solidFill>
            <a:srgbClr val="08111C"/>
          </a:solidFill>
          <a:ln w="12700">
            <a:solidFill>
              <a:srgbClr val="10C9B7">
                <a:alpha val="5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222992" y="658368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10C9B7">
              <a:alpha val="92000"/>
            </a:srgbClr>
          </a:solidFill>
          <a:ln w="10160">
            <a:solidFill>
              <a:srgbClr val="10C9B7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05288" y="722376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Авто-задачи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10204704" y="1170432"/>
            <a:ext cx="1609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Система заранее ловит риск и создаёт задачу.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204704" y="2450592"/>
            <a:ext cx="162763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D7DEE8"/>
                </a:solidFill>
              </a:rPr>
              <a:t>• Сигнал не обвиняет — он показывает, где проверить.
• В задаче есть факт, прогноз, причина и действие.
• Сильные риски идут owner; шум остаётся в сводке.
• Закрываем только с комментарием и доказательством.
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10204704" y="5559552"/>
            <a:ext cx="1600200" cy="0"/>
          </a:xfrm>
          <a:prstGeom prst="line">
            <a:avLst/>
          </a:prstGeom>
          <a:noFill/>
          <a:ln w="12700">
            <a:solidFill>
              <a:srgbClr val="10C9B7">
                <a:alpha val="7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04704" y="571500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93A1B2"/>
                </a:solidFill>
              </a:rPr>
              <a:t>Запомнить: один сигнал → один владелец → один критерий закрытия.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3A1B2"/>
                </a:solidFill>
              </a:rPr>
              <a:t>05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02920" y="6556248"/>
            <a:ext cx="9966960" cy="0"/>
          </a:xfrm>
          <a:prstGeom prst="line">
            <a:avLst/>
          </a:prstGeom>
          <a:noFill/>
          <a:ln w="8890">
            <a:solidFill>
              <a:srgbClr val="264254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uide_visual_assets/04_predictive_engine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3A1B2"/>
                </a:solidFill>
              </a:rPr>
              <a:t>06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502920" y="6556248"/>
            <a:ext cx="9966960" cy="0"/>
          </a:xfrm>
          <a:prstGeom prst="line">
            <a:avLst/>
          </a:prstGeom>
          <a:noFill/>
          <a:ln w="8890">
            <a:solidFill>
              <a:srgbClr val="264254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118872"/>
            <a:ext cx="9765792" cy="6620256"/>
          </a:xfrm>
          <a:prstGeom prst="roundRect">
            <a:avLst>
              <a:gd name="adj" fmla="val 2762"/>
            </a:avLst>
          </a:prstGeom>
          <a:solidFill>
            <a:srgbClr val="0A1624"/>
          </a:solidFill>
          <a:ln w="12700">
            <a:solidFill>
              <a:srgbClr val="264254">
                <a:alpha val="88000"/>
              </a:srgbClr>
            </a:solidFill>
            <a:prstDash val="solid"/>
          </a:ln>
        </p:spPr>
      </p:sp>
      <p:pic>
        <p:nvPicPr>
          <p:cNvPr id="4" name="Image 0" descr="/mnt/data/ghostwriter_images/generated/a_wide_dark_themed_ui_marketing_illustration_for_3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78" y="164592"/>
            <a:ext cx="9226981" cy="65288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40112" y="384048"/>
            <a:ext cx="1901952" cy="5943600"/>
          </a:xfrm>
          <a:prstGeom prst="roundRect">
            <a:avLst>
              <a:gd name="adj" fmla="val 8173"/>
            </a:avLst>
          </a:prstGeom>
          <a:solidFill>
            <a:srgbClr val="08111C"/>
          </a:solidFill>
          <a:ln w="12700">
            <a:solidFill>
              <a:srgbClr val="3D72F5">
                <a:alpha val="5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222992" y="658368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3D72F5">
              <a:alpha val="92000"/>
            </a:srgbClr>
          </a:solidFill>
          <a:ln w="10160">
            <a:solidFill>
              <a:srgbClr val="3D72F5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05288" y="722376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Задачи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10204704" y="1170432"/>
            <a:ext cx="1609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Статус — это реальное состояние работы.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204704" y="2450592"/>
            <a:ext cx="162763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D7DEE8"/>
                </a:solidFill>
              </a:rPr>
              <a:t>• «В работе» — взяли ответственность.
• «Ждёт команду» — нужен ответ коллег.
• «Ожидает РОП» — нужно решение руководителя.
• «Готово» — есть результат и критерий закрыт.
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10204704" y="5559552"/>
            <a:ext cx="1600200" cy="0"/>
          </a:xfrm>
          <a:prstGeom prst="line">
            <a:avLst/>
          </a:prstGeom>
          <a:noFill/>
          <a:ln w="12700">
            <a:solidFill>
              <a:srgbClr val="3D72F5">
                <a:alpha val="7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04704" y="571500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93A1B2"/>
                </a:solidFill>
              </a:rPr>
              <a:t>Запомнить: один сигнал → один владелец → один критерий закрытия.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3A1B2"/>
                </a:solidFill>
              </a:rPr>
              <a:t>07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02920" y="6556248"/>
            <a:ext cx="9966960" cy="0"/>
          </a:xfrm>
          <a:prstGeom prst="line">
            <a:avLst/>
          </a:prstGeom>
          <a:noFill/>
          <a:ln w="8890">
            <a:solidFill>
              <a:srgbClr val="264254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uide_visual_assets/05_task_status_board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3A1B2"/>
                </a:solidFill>
              </a:rPr>
              <a:t>08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502920" y="6556248"/>
            <a:ext cx="9966960" cy="0"/>
          </a:xfrm>
          <a:prstGeom prst="line">
            <a:avLst/>
          </a:prstGeom>
          <a:noFill/>
          <a:ln w="8890">
            <a:solidFill>
              <a:srgbClr val="264254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uide_visual_assets/06_task_card_anatomy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3A1B2"/>
                </a:solidFill>
              </a:rPr>
              <a:t>09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502920" y="6556248"/>
            <a:ext cx="9966960" cy="0"/>
          </a:xfrm>
          <a:prstGeom prst="line">
            <a:avLst/>
          </a:prstGeom>
          <a:noFill/>
          <a:ln w="8890">
            <a:solidFill>
              <a:srgbClr val="264254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uide_visual_assets/07_uploads_evidence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3A1B2"/>
                </a:solidFill>
              </a:rPr>
              <a:t>10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502920" y="6556248"/>
            <a:ext cx="9966960" cy="0"/>
          </a:xfrm>
          <a:prstGeom prst="line">
            <a:avLst/>
          </a:prstGeom>
          <a:noFill/>
          <a:ln w="8890">
            <a:solidFill>
              <a:srgbClr val="264254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118872"/>
            <a:ext cx="9765792" cy="6620256"/>
          </a:xfrm>
          <a:prstGeom prst="roundRect">
            <a:avLst>
              <a:gd name="adj" fmla="val 2762"/>
            </a:avLst>
          </a:prstGeom>
          <a:solidFill>
            <a:srgbClr val="0A1624"/>
          </a:solidFill>
          <a:ln w="12700">
            <a:solidFill>
              <a:srgbClr val="264254">
                <a:alpha val="88000"/>
              </a:srgbClr>
            </a:solidFill>
            <a:prstDash val="solid"/>
          </a:ln>
        </p:spPr>
      </p:sp>
      <p:pic>
        <p:nvPicPr>
          <p:cNvPr id="4" name="Image 0" descr="/mnt/data/ghostwriter_images/generated/a_dark_slick_ui_promotional_dashboard_concept_ill_4_batch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78" y="164592"/>
            <a:ext cx="9226981" cy="65288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40112" y="384048"/>
            <a:ext cx="1901952" cy="5943600"/>
          </a:xfrm>
          <a:prstGeom prst="roundRect">
            <a:avLst>
              <a:gd name="adj" fmla="val 8173"/>
            </a:avLst>
          </a:prstGeom>
          <a:solidFill>
            <a:srgbClr val="08111C"/>
          </a:solidFill>
          <a:ln w="12700">
            <a:solidFill>
              <a:srgbClr val="00A98F">
                <a:alpha val="5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222992" y="658368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00A98F">
              <a:alpha val="92000"/>
            </a:srgbClr>
          </a:solidFill>
          <a:ln w="10160">
            <a:solidFill>
              <a:srgbClr val="00A98F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05288" y="722376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Репрайсер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10204704" y="1170432"/>
            <a:ext cx="1609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Цены меняем через коридор, маржу и причину.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204704" y="2450592"/>
            <a:ext cx="162763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D7DEE8"/>
                </a:solidFill>
              </a:rPr>
              <a:t>• Проверяем min/max, текущую и рекомендованную цену.
• Смотрим WB ↔ Ozon и конкурентов.
• Не применяем массово без проверки маржи.
• После изменения фиксируем причину и контроль.
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10204704" y="5559552"/>
            <a:ext cx="1600200" cy="0"/>
          </a:xfrm>
          <a:prstGeom prst="line">
            <a:avLst/>
          </a:prstGeom>
          <a:noFill/>
          <a:ln w="12700">
            <a:solidFill>
              <a:srgbClr val="00A98F">
                <a:alpha val="7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04704" y="571500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93A1B2"/>
                </a:solidFill>
              </a:rPr>
              <a:t>Запомнить: один сигнал → один владелец → один критерий закрытия.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3A1B2"/>
                </a:solidFill>
              </a:rPr>
              <a:t>11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02920" y="6556248"/>
            <a:ext cx="9966960" cy="0"/>
          </a:xfrm>
          <a:prstGeom prst="line">
            <a:avLst/>
          </a:prstGeom>
          <a:noFill/>
          <a:ln w="8890">
            <a:solidFill>
              <a:srgbClr val="264254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uide_visual_assets/08_repricing_workbench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3A1B2"/>
                </a:solidFill>
              </a:rPr>
              <a:t>12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502920" y="6556248"/>
            <a:ext cx="9966960" cy="0"/>
          </a:xfrm>
          <a:prstGeom prst="line">
            <a:avLst/>
          </a:prstGeom>
          <a:noFill/>
          <a:ln w="8890">
            <a:solidFill>
              <a:srgbClr val="264254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118872"/>
            <a:ext cx="9765792" cy="6620256"/>
          </a:xfrm>
          <a:prstGeom prst="roundRect">
            <a:avLst>
              <a:gd name="adj" fmla="val 2762"/>
            </a:avLst>
          </a:prstGeom>
          <a:solidFill>
            <a:srgbClr val="0A1624"/>
          </a:solidFill>
          <a:ln w="12700">
            <a:solidFill>
              <a:srgbClr val="264254">
                <a:alpha val="88000"/>
              </a:srgbClr>
            </a:solidFill>
            <a:prstDash val="solid"/>
          </a:ln>
        </p:spPr>
      </p:sp>
      <p:pic>
        <p:nvPicPr>
          <p:cNvPr id="4" name="Image 0" descr="/mnt/data/ghostwriter_images/generated/a_dark_futuristic_ui_dashboard_promo_scene_for_5_batch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78" y="164592"/>
            <a:ext cx="9226981" cy="65288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40112" y="384048"/>
            <a:ext cx="1901952" cy="5943600"/>
          </a:xfrm>
          <a:prstGeom prst="roundRect">
            <a:avLst>
              <a:gd name="adj" fmla="val 8173"/>
            </a:avLst>
          </a:prstGeom>
          <a:solidFill>
            <a:srgbClr val="08111C"/>
          </a:solidFill>
          <a:ln w="12700">
            <a:solidFill>
              <a:srgbClr val="F6A313">
                <a:alpha val="5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222992" y="658368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F6A313">
              <a:alpha val="92000"/>
            </a:srgbClr>
          </a:solidFill>
          <a:ln w="10160">
            <a:solidFill>
              <a:srgbClr val="F6A313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05288" y="722376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OOS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10204704" y="1170432"/>
            <a:ext cx="1609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Ловим не пустую полку, а дату, когда она случится.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204704" y="2450592"/>
            <a:ext cx="162763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D7DEE8"/>
                </a:solidFill>
              </a:rPr>
              <a:t>• Смотрим покрытие в днях, кластеры и транзит.
• Если есть OOS-сигнал — не создаём дубль по падению продаж.
• Задача закрывается после решения по поставке/резерву.
• Деньги под риском помогают выбрать приоритет.
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10204704" y="5559552"/>
            <a:ext cx="1600200" cy="0"/>
          </a:xfrm>
          <a:prstGeom prst="line">
            <a:avLst/>
          </a:prstGeom>
          <a:noFill/>
          <a:ln w="12700">
            <a:solidFill>
              <a:srgbClr val="F6A313">
                <a:alpha val="7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04704" y="571500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93A1B2"/>
                </a:solidFill>
              </a:rPr>
              <a:t>Запомнить: один сигнал → один владелец → один критерий закрытия.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3A1B2"/>
                </a:solidFill>
              </a:rPr>
              <a:t>13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02920" y="6556248"/>
            <a:ext cx="9966960" cy="0"/>
          </a:xfrm>
          <a:prstGeom prst="line">
            <a:avLst/>
          </a:prstGeom>
          <a:noFill/>
          <a:ln w="8890">
            <a:solidFill>
              <a:srgbClr val="264254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ortal_guide_v2_assets/oos_forecast.png"/>
          <p:cNvPicPr>
            <a:picLocks noChangeAspect="1"/>
          </p:cNvPicPr>
          <p:nvPr/>
        </p:nvPicPr>
        <p:blipFill>
          <a:blip r:embed="rId3"/>
          <a:srcRect l="6544" r="654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3A1B2"/>
                </a:solidFill>
              </a:rPr>
              <a:t>14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502920" y="6556248"/>
            <a:ext cx="9966960" cy="0"/>
          </a:xfrm>
          <a:prstGeom prst="line">
            <a:avLst/>
          </a:prstGeom>
          <a:noFill/>
          <a:ln w="8890">
            <a:solidFill>
              <a:srgbClr val="264254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118872"/>
            <a:ext cx="9765792" cy="6620256"/>
          </a:xfrm>
          <a:prstGeom prst="roundRect">
            <a:avLst>
              <a:gd name="adj" fmla="val 2762"/>
            </a:avLst>
          </a:prstGeom>
          <a:solidFill>
            <a:srgbClr val="0A1624"/>
          </a:solidFill>
          <a:ln w="12700">
            <a:solidFill>
              <a:srgbClr val="264254">
                <a:alpha val="88000"/>
              </a:srgbClr>
            </a:solidFill>
            <a:prstDash val="solid"/>
          </a:ln>
        </p:spPr>
      </p:sp>
      <p:pic>
        <p:nvPicPr>
          <p:cNvPr id="4" name="Image 0" descr="/mnt/data/ghostwriter_images/generated/a_dark_sleek_ui_dashboard_scene_presentation_sl_6_batch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78" y="164592"/>
            <a:ext cx="9226981" cy="65288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40112" y="384048"/>
            <a:ext cx="1901952" cy="5943600"/>
          </a:xfrm>
          <a:prstGeom prst="roundRect">
            <a:avLst>
              <a:gd name="adj" fmla="val 8173"/>
            </a:avLst>
          </a:prstGeom>
          <a:solidFill>
            <a:srgbClr val="08111C"/>
          </a:solidFill>
          <a:ln w="12700">
            <a:solidFill>
              <a:srgbClr val="6B47E9">
                <a:alpha val="5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222992" y="658368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6B47E9">
              <a:alpha val="92000"/>
            </a:srgbClr>
          </a:solidFill>
          <a:ln w="10160">
            <a:solidFill>
              <a:srgbClr val="6B47E9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05288" y="722376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ИУ / ДРР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10204704" y="1170432"/>
            <a:ext cx="1609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План-факт нужен для решения, а не для красоты.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204704" y="2450592"/>
            <a:ext cx="162763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D7DEE8"/>
                </a:solidFill>
              </a:rPr>
              <a:t>• ИУ показывает риск по обороту и сторно.
• ДРР показывает эффективность рекламы.
• Воронка объясняет, где теряем спрос.
• Карточка — место, где проверяем показы, клики, корзину, заказы.
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10204704" y="5559552"/>
            <a:ext cx="1600200" cy="0"/>
          </a:xfrm>
          <a:prstGeom prst="line">
            <a:avLst/>
          </a:prstGeom>
          <a:noFill/>
          <a:ln w="12700">
            <a:solidFill>
              <a:srgbClr val="6B47E9">
                <a:alpha val="7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04704" y="571500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93A1B2"/>
                </a:solidFill>
              </a:rPr>
              <a:t>Запомнить: один сигнал → один владелец → один критерий закрытия.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3A1B2"/>
                </a:solidFill>
              </a:rPr>
              <a:t>15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02920" y="6556248"/>
            <a:ext cx="9966960" cy="0"/>
          </a:xfrm>
          <a:prstGeom prst="line">
            <a:avLst/>
          </a:prstGeom>
          <a:noFill/>
          <a:ln w="8890">
            <a:solidFill>
              <a:srgbClr val="264254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uide_visual_assets/09_key_graphs_dashboard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3A1B2"/>
                </a:solidFill>
              </a:rPr>
              <a:t>16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502920" y="6556248"/>
            <a:ext cx="9966960" cy="0"/>
          </a:xfrm>
          <a:prstGeom prst="line">
            <a:avLst/>
          </a:prstGeom>
          <a:noFill/>
          <a:ln w="8890">
            <a:solidFill>
              <a:srgbClr val="264254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118872"/>
            <a:ext cx="9765792" cy="6620256"/>
          </a:xfrm>
          <a:prstGeom prst="roundRect">
            <a:avLst>
              <a:gd name="adj" fmla="val 2762"/>
            </a:avLst>
          </a:prstGeom>
          <a:solidFill>
            <a:srgbClr val="0A1624"/>
          </a:solidFill>
          <a:ln w="12700">
            <a:solidFill>
              <a:srgbClr val="264254">
                <a:alpha val="88000"/>
              </a:srgbClr>
            </a:solidFill>
            <a:prstDash val="solid"/>
          </a:ln>
        </p:spPr>
      </p:sp>
      <p:pic>
        <p:nvPicPr>
          <p:cNvPr id="4" name="Image 0" descr="/mnt/data/ghostwriter_images/generated/wide_dark_tech_ui_promo_scene_futuristic_dashboar_7_batch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78" y="164592"/>
            <a:ext cx="9226981" cy="65288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40112" y="384048"/>
            <a:ext cx="1901952" cy="5943600"/>
          </a:xfrm>
          <a:prstGeom prst="roundRect">
            <a:avLst>
              <a:gd name="adj" fmla="val 8173"/>
            </a:avLst>
          </a:prstGeom>
          <a:solidFill>
            <a:srgbClr val="08111C"/>
          </a:solidFill>
          <a:ln w="12700">
            <a:solidFill>
              <a:srgbClr val="10C9B7">
                <a:alpha val="5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222992" y="658368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10C9B7">
              <a:alpha val="92000"/>
            </a:srgbClr>
          </a:solidFill>
          <a:ln w="10160">
            <a:solidFill>
              <a:srgbClr val="10C9B7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05288" y="722376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Новинки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10204704" y="1170432"/>
            <a:ext cx="1609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Запуск начинается до карточки: D-30 → D+7.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204704" y="2450592"/>
            <a:ext cx="162763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D7DEE8"/>
                </a:solidFill>
              </a:rPr>
              <a:t>• D-30: план товара и поставки.
• D-14: цена, контент, SEO, остатки.
• D-7: реклама, бюджет, финальная проверка.
• D+7: вывод — масштабировать или чинить.
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10204704" y="5559552"/>
            <a:ext cx="1600200" cy="0"/>
          </a:xfrm>
          <a:prstGeom prst="line">
            <a:avLst/>
          </a:prstGeom>
          <a:noFill/>
          <a:ln w="12700">
            <a:solidFill>
              <a:srgbClr val="10C9B7">
                <a:alpha val="7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04704" y="571500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93A1B2"/>
                </a:solidFill>
              </a:rPr>
              <a:t>Запомнить: один сигнал → один владелец → один критерий закрытия.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3A1B2"/>
                </a:solidFill>
              </a:rPr>
              <a:t>17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02920" y="6556248"/>
            <a:ext cx="9966960" cy="0"/>
          </a:xfrm>
          <a:prstGeom prst="line">
            <a:avLst/>
          </a:prstGeom>
          <a:noFill/>
          <a:ln w="8890">
            <a:solidFill>
              <a:srgbClr val="264254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uide_visual_assets/10_launch_timeline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3A1B2"/>
                </a:solidFill>
              </a:rPr>
              <a:t>18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502920" y="6556248"/>
            <a:ext cx="9966960" cy="0"/>
          </a:xfrm>
          <a:prstGeom prst="line">
            <a:avLst/>
          </a:prstGeom>
          <a:noFill/>
          <a:ln w="8890">
            <a:solidFill>
              <a:srgbClr val="264254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uide_visual_assets/11_roles_matrix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3A1B2"/>
                </a:solidFill>
              </a:rPr>
              <a:t>19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502920" y="6556248"/>
            <a:ext cx="9966960" cy="0"/>
          </a:xfrm>
          <a:prstGeom prst="line">
            <a:avLst/>
          </a:prstGeom>
          <a:noFill/>
          <a:ln w="8890">
            <a:solidFill>
              <a:srgbClr val="264254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uide_visual_assets/12_chat_to_portal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3A1B2"/>
                </a:solidFill>
              </a:rPr>
              <a:t>20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502920" y="6556248"/>
            <a:ext cx="9966960" cy="0"/>
          </a:xfrm>
          <a:prstGeom prst="line">
            <a:avLst/>
          </a:prstGeom>
          <a:noFill/>
          <a:ln w="8890">
            <a:solidFill>
              <a:srgbClr val="264254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37844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QHARISMA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Памятка сотрудника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22529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1B2"/>
                </a:solidFill>
              </a:rPr>
              <a:t>То, что должно стать привычкой после обучения.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1627632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0D1828"/>
          </a:solidFill>
          <a:ln w="12700">
            <a:solidFill>
              <a:srgbClr val="10C9B7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830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C9B7"/>
                </a:solidFill>
              </a:rPr>
              <a:t>Утро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17922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</a:rPr>
              <a:t>Открыть «Задачи» и high/critical. Проверить свои авто-задачи и просрочки.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496312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0D1828"/>
          </a:solidFill>
          <a:ln w="12700">
            <a:solidFill>
              <a:srgbClr val="3D72F5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6517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72F5"/>
                </a:solidFill>
              </a:rPr>
              <a:t>Перед действием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0" y="266090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</a:rPr>
              <a:t>Открыть карточку задачи: факт, прогноз, вероятная причина, что проверить.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364992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0D1828"/>
          </a:solidFill>
          <a:ln w="12700">
            <a:solidFill>
              <a:srgbClr val="F6A313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5204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A313"/>
                </a:solidFill>
              </a:rPr>
              <a:t>В работе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0" y="352958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</a:rPr>
              <a:t>Поменять статус, написать комментарий, приложить файл или ссылку.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4233672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0D1828"/>
          </a:solidFill>
          <a:ln w="12700">
            <a:solidFill>
              <a:srgbClr val="6B47E9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389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47E9"/>
                </a:solidFill>
              </a:rPr>
              <a:t>Закрытие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86000" y="43982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</a:rPr>
              <a:t>Закрыть только если выполнен критерий: есть результат, доказательство и следующий контроль.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" y="5102352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0D1828"/>
          </a:solidFill>
          <a:ln w="12700">
            <a:solidFill>
              <a:srgbClr val="EF3F45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257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3F45"/>
                </a:solidFill>
              </a:rPr>
              <a:t>Если данные странные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286000" y="526694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</a:rPr>
              <a:t>Не спорить в чате. Создать data-quality/комментарий: что не сходится и источник.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6080760"/>
            <a:ext cx="10698480" cy="384048"/>
          </a:xfrm>
          <a:prstGeom prst="roundRect">
            <a:avLst>
              <a:gd name="adj" fmla="val 23810"/>
            </a:avLst>
          </a:prstGeom>
          <a:solidFill>
            <a:srgbClr val="092D2C"/>
          </a:solidFill>
          <a:ln w="12700">
            <a:solidFill>
              <a:srgbClr val="10C9B7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6190488"/>
            <a:ext cx="10149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90F3D1"/>
                </a:solidFill>
              </a:rPr>
              <a:t>Главная мысль: портал — не склад отчётов, а рабочий центр управления продажами и задачами.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666</Words>
  <Application>Microsoft Office PowerPoint</Application>
  <PresentationFormat>Широкоэкранный</PresentationFormat>
  <Paragraphs>93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QHARISMA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QHARISMA · Гайд по порталу для сотрудников</dc:title>
  <dc:subject>Презентация-гайд по порталу для сотрудников</dc:subject>
  <dc:creator>QHARISMA / Дом бренда Алтея</dc:creator>
  <cp:lastModifiedBy>Sergey Artyuhin</cp:lastModifiedBy>
  <cp:revision>2</cp:revision>
  <dcterms:created xsi:type="dcterms:W3CDTF">2026-06-30T16:40:01Z</dcterms:created>
  <dcterms:modified xsi:type="dcterms:W3CDTF">2026-06-30T16:46:10Z</dcterms:modified>
</cp:coreProperties>
</file>